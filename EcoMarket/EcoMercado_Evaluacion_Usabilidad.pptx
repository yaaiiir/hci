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Sitio A (Web IngSoft)</c:v>
                </c:pt>
              </c:strCache>
            </c:strRef>
          </c:tx>
          <c:spPr>
            <a:solidFill>
              <a:srgbClr val="A8D5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H1</c:v>
                  </c:pt>
                  <c:pt idx="1">
                    <c:v>H2</c:v>
                  </c:pt>
                  <c:pt idx="2">
                    <c:v>H3</c:v>
                  </c:pt>
                  <c:pt idx="3">
                    <c:v>H4</c:v>
                  </c:pt>
                  <c:pt idx="4">
                    <c:v>H5</c:v>
                  </c:pt>
                  <c:pt idx="5">
                    <c:v>H6</c:v>
                  </c:pt>
                  <c:pt idx="6">
                    <c:v>H7</c:v>
                  </c:pt>
                  <c:pt idx="7">
                    <c:v>H8</c:v>
                  </c:pt>
                  <c:pt idx="8">
                    <c:v>H9</c:v>
                  </c:pt>
                  <c:pt idx="9">
                    <c:v>H10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2.75</c:v>
                </c:pt>
                <c:pt idx="1">
                  <c:v>2.75</c:v>
                </c:pt>
                <c:pt idx="2">
                  <c:v>2.25</c:v>
                </c:pt>
                <c:pt idx="3">
                  <c:v>3</c:v>
                </c:pt>
                <c:pt idx="4">
                  <c:v>2</c:v>
                </c:pt>
                <c:pt idx="5">
                  <c:v>2.25</c:v>
                </c:pt>
                <c:pt idx="6">
                  <c:v>2</c:v>
                </c:pt>
                <c:pt idx="7">
                  <c:v>3</c:v>
                </c:pt>
                <c:pt idx="8">
                  <c:v>1.25</c:v>
                </c:pt>
                <c:pt idx="9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Sitio B (EcoMercado)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H1</c:v>
                  </c:pt>
                  <c:pt idx="1">
                    <c:v>H2</c:v>
                  </c:pt>
                  <c:pt idx="2">
                    <c:v>H3</c:v>
                  </c:pt>
                  <c:pt idx="3">
                    <c:v>H4</c:v>
                  </c:pt>
                  <c:pt idx="4">
                    <c:v>H5</c:v>
                  </c:pt>
                  <c:pt idx="5">
                    <c:v>H6</c:v>
                  </c:pt>
                  <c:pt idx="6">
                    <c:v>H7</c:v>
                  </c:pt>
                  <c:pt idx="7">
                    <c:v>H8</c:v>
                  </c:pt>
                  <c:pt idx="8">
                    <c:v>H9</c:v>
                  </c:pt>
                  <c:pt idx="9">
                    <c:v>H10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</c:v>
                </c:pt>
                <c:pt idx="1">
                  <c:v>4.25</c:v>
                </c:pt>
                <c:pt idx="2">
                  <c:v>3</c:v>
                </c:pt>
                <c:pt idx="3">
                  <c:v>4.25</c:v>
                </c:pt>
                <c:pt idx="4">
                  <c:v>2.5</c:v>
                </c:pt>
                <c:pt idx="5">
                  <c:v>4.5</c:v>
                </c:pt>
                <c:pt idx="6">
                  <c:v>3.25</c:v>
                </c:pt>
                <c:pt idx="7">
                  <c:v>4.5</c:v>
                </c:pt>
                <c:pt idx="8">
                  <c:v>2</c:v>
                </c:pt>
                <c:pt idx="9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4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 SUS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4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Promedio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47.5</c:v>
                </c:pt>
                <c:pt idx="2">
                  <c:v>60</c:v>
                </c:pt>
                <c:pt idx="3">
                  <c:v>50</c:v>
                </c:pt>
                <c:pt idx="4">
                  <c:v>50</c:v>
                </c:pt>
                <c:pt idx="5">
                  <c:v>52.5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4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4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2D6A4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52B78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560320" cy="4114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UNISTMO — IHC 8vo Semestre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Evaluación Heurística 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4A017"/>
                </a:solidFill>
              </a:rPr>
              <a:t>Pruebas de Usabilidad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52B788"/>
                </a:solidFill>
              </a:rPr>
              <a:t>Sitio B: EcoMercado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F5F0"/>
                </a:solidFill>
              </a:rPr>
              <a:t>pure-earth-market.base44.app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4864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0"/>
                </a:solidFill>
              </a:rPr>
              <a:t>Interacción Humano Computadora  •  Licenciatura en Informática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Fecha de evaluación: 09/04/2025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🌿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¿Qué es EcoMercado?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Descripción del Sitio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Tipo de sistema: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Tienda en línea / e-commerce ecológico
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URL: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</a:rPr>
              <a:t>pure-earth-market.base44.app
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Propósito: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Venta de productos orgánicos y sustentables directo al consumidor.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Objetivos de la Evaluación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Identificar problemas mediante las 10 heurísticas de Nielsen.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Observar el comportamiento de 5 usuarios reales (Think-Aloud).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Medir eficacia, eficiencia y satisfacción (SUS).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Generar recomendaciones de mejora con evidencia.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E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UNISTMO — IHC | EcoMercado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Metodología Aplicada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6459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🔍  Evaluación Heurística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3–5 evaluadores. 10 heurísticas de Jakob Nielsen. Escala de severidad 0–4.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16459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🗣️  Think-Aloud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5 participantes. Expresan en voz alta lo que piensan mientras navegan.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73152" cy="16459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📋  Cuestionario SUS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10 ítems post-prueba. Escala 1–5. Promedio ponderado sobre 100 pts.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73152" cy="16459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✅  Tareas de Usabilidad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7 tareas específicas: búsqueda, carrito, pago, navegación y más.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E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UNISTMO — IHC | EcoMercado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Resultados Heurísticos — Calificaciones por Heurística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8595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E8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Escala: 1 (muy deficiente) a 5 (excelente) — Promedio de sub-criterios por heurística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Problemas Heurísticos Identificados — EcoMercado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0" y="1024128"/>
            <a:ext cx="621792" cy="29260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02412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Sev.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502920" cy="29260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241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Inconsistencia semántica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Imagen de Clorox visible en sección de productos orgánicos ("Limpiador Orgánico"). Rompe la confianza del usuario.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38160" y="1024128"/>
            <a:ext cx="621792" cy="2926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02412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Sev.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024128"/>
            <a:ext cx="502920" cy="29260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241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Sin barra de progreso en checkout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El usuario no sabe cuántos pasos faltan para completar el proceso de compra.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0" y="2898648"/>
            <a:ext cx="621792" cy="29260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8986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Sev.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502920" cy="29260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98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H5/H9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264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Sin confirmación al vaciar carrito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Al dar clic en "Eliminar" el sistema actúa de inmediato sin pedir confirmación.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2898648"/>
            <a:ext cx="621792" cy="29260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28986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Sev. 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898648"/>
            <a:ext cx="502920" cy="29260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898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3264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Sin botón 'Deshacer' al agregar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No es posible revertir la acción de agregar al carrito desde la misma pantalla.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E8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UNISTMO — IHC | EcoMercado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Resultados de las Pruebas con Usuarios — 5 Participantes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474720"/>
        </p:xfrm>
        <a:graphic>
          <a:graphicData uri="http://schemas.openxmlformats.org/drawingml/2006/table">
            <a:tbl>
              <a:tblPr/>
              <a:tblGrid>
                <a:gridCol w="365760"/>
                <a:gridCol w="3200400"/>
                <a:gridCol w="914400"/>
                <a:gridCol w="1554480"/>
                <a:gridCol w="91440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Tarea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T. Est.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T. Real Prom.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 Éxito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Identifica categorías y productos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48 seg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Busca producto con buscador/filtros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1:04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Agrega 2 productos al carrito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31 seg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Revisa carrito y modifica cantidad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 seg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Proceso de compra hasta pago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~12 seg (parcial)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Encuentra política de envíos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46 seg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Regresa a página de inicio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seg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5262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5A00"/>
                </a:solidFill>
              </a:rPr>
              <a:t>⚠️  Tarea 5 (pago) fue incompleta en los 5 participantes — fallo crítico confirmado.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E8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UNISTMO — IHC | EcoMercado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Cuestionario SUS — Percepción de los Usuarios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918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Escala SUS de Referencia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1508760"/>
            <a:ext cx="100584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1508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90–100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6656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A+  Excelente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103120"/>
            <a:ext cx="1005840" cy="4114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2103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80–89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6656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   Bueno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2697480"/>
            <a:ext cx="1005840" cy="411480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0" y="2697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70–79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66560" y="2697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B   Aceptable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3291840"/>
            <a:ext cx="1005840" cy="411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0" y="32918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60–69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6656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   Regular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0" y="3886200"/>
            <a:ext cx="100584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0" y="3886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 60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76656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F   Deficiente  ◄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4572000"/>
            <a:ext cx="3108960" cy="20116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0" y="4572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Promedio EcoMercado: 52.5 — DEFICIENTE (F)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E8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UNISTMO — IHC | EcoMercado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Voz del Usuario — Cuestionario Post-Prueba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8288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✅  Lo que más gustó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La estética visual y paleta de colores. Los usuarios consideraron el sitio "profesional" y "limpio". Las imágenes de productos frescos generan sensación de confianza.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73152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❌  Lo más frustrante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El proceso de pago: no había botón visible para finalizar el pedido. El buscador no siempre arrojaba los resultados esperados al usar términos simples.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Calificación general: 6/10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"El sitio es muy bonito visualmente, pero pierde puntos críticos en funcionalidad básica. Un sitio lindo que no deja comprar no cumple su propósito."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¿Recomendarías el sitio?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429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Solo si se corrigen los errores de navegación. Los usuarios lo ven como un buen catálogo visual, pero no como una tienda funcional confiable en su estado actual.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E8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UNISTMO — IHC | EcoMercado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Recomendaciones de Mejora para EcoMercado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6949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1078992"/>
            <a:ext cx="91440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🔴  Rediseñar flujo de pago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Botón "Continuar compra" más prominente. Stepper visual (Paso 1, 2, 3).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09928"/>
            <a:ext cx="73152" cy="6949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1874520"/>
            <a:ext cx="91440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1764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🔴  Auditar imágenes del catálogo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Sustituir imágenes de productos no ecológicos (ej. Clorox en sección orgánica).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505456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05456"/>
            <a:ext cx="73152" cy="69494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2670048"/>
            <a:ext cx="914400" cy="27432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560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🟠  Agregar filtros avanzados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852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Filtros por precio, calificación y región de origen para mejorar eficiencia.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300984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00984"/>
            <a:ext cx="73152" cy="69494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3465576"/>
            <a:ext cx="914400" cy="27432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465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355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🟠  Toast de confirmación al agregar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6484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Notificación temporal con opción de "Deshacer" al agregar productos al carrito.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096512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96512"/>
            <a:ext cx="73152" cy="69494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0" y="4261104"/>
            <a:ext cx="91440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4261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1513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🟢  Breadcrumbs de navegación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44439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Indicar siempre al usuario en qué sección se encuentra (H1 – visibilidad).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EDE8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UNISTMO — IHC | EcoMercado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D6A4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52B78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0292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</a:rPr>
              <a:t>🏆  EcoMercado tiene mejor usabilidad heurística global (3.7/5 vs 2.5/5 del Sitio A).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</a:rPr>
              <a:t>✅  Sobresale en H2 (mundo real), H4 (consistencia), H6 (reconocimiento) y H8 (diseño estético).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</a:rPr>
              <a:t>⚠️  Fallo crítico: ningún usuario completó el proceso de pago (Tarea 5 — 0% de éxito).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</a:rPr>
              <a:t>📉  Puntaje SUS promedio: 52.5 — clasificación DEFICIENTE (F). Requiere mejoras urgentes.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</a:rPr>
              <a:t>🔧  Las acciones prioritarias son: flujo de pago, auditoría de imágenes y feedback de acciones.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0"/>
                </a:solidFill>
              </a:rPr>
              <a:t>UNISTMO — IHC | EcoMercado  •  Licenciatura en Informática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Heurística y Pruebas de Usabilidad – EcoMercado</dc:title>
  <dc:subject>PptxGenJS Presentation</dc:subject>
  <dc:creator>PptxGenJS</dc:creator>
  <cp:lastModifiedBy>PptxGenJS</cp:lastModifiedBy>
  <cp:revision>1</cp:revision>
  <dcterms:created xsi:type="dcterms:W3CDTF">2026-04-14T14:34:22Z</dcterms:created>
  <dcterms:modified xsi:type="dcterms:W3CDTF">2026-04-14T14:34:22Z</dcterms:modified>
</cp:coreProperties>
</file>